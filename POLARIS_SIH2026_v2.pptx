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3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Problem Statement ID-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26062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Problem Statement Title-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Polar Expedition Logistics and Asset Management System (MoES / NCPOR).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Theme-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PS Category-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 ID-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XXXXX (to be allotted)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 Name: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</a:t>
            </a:r>
            <a:endParaRPr lang="en-US" sz="1400" dirty="0"/>
          </a:p>
        </p:txBody>
      </p:sp>
      <p:pic>
        <p:nvPicPr>
          <p:cNvPr id="5" name="Image 1" descr="assets/hex_b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114800" cy="4114800"/>
          </a:xfrm>
          <a:prstGeom prst="rect">
            <a:avLst/>
          </a:prstGeom>
        </p:spPr>
      </p:pic>
      <p:pic>
        <p:nvPicPr>
          <p:cNvPr id="6" name="Image 2" descr="assets/polar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20240"/>
            <a:ext cx="3200400" cy="20116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Mission Control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77724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5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Maitri • Bharati • Himadri - Live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2447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45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35240" y="109728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280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</a:rPr>
              <a:t>LINK TO PROTOTYPE: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680960" y="32918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E6EB5"/>
                </a:solidFill>
              </a:rPr>
              <a:t>Click Here  ☞</a:t>
            </a:r>
            <a:endParaRPr lang="en-US" sz="900" dirty="0"/>
          </a:p>
        </p:txBody>
      </p:sp>
      <p:pic>
        <p:nvPicPr>
          <p:cNvPr id="8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2880" y="868680"/>
            <a:ext cx="5715000" cy="475488"/>
          </a:xfrm>
          <a:prstGeom prst="roundRect">
            <a:avLst>
              <a:gd name="adj" fmla="val 15385"/>
            </a:avLst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8686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 / Prototype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1168" y="8686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2880" y="1389888"/>
            <a:ext cx="571500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146304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Mission Control: 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MERN platform automates expedition planning, cargo, inventory, personnel &amp; SOS for Maitri / Bharati / Himadri.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Identification: 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Auto-detects expedition stage (Planning / InTransit / Active / Winter-Isolated) &amp; stock (Optimal / Warning / Critical).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User-Input Driven: 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expedition code (44-IAE), station, team-size, manifest, consumption, GPS check-in to drive forecasting.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80760" y="868680"/>
            <a:ext cx="5897880" cy="2578608"/>
          </a:xfrm>
          <a:prstGeom prst="roundRect">
            <a:avLst>
              <a:gd name="adj" fmla="val 5319"/>
            </a:avLst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932688"/>
            <a:ext cx="548640" cy="29260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1325880"/>
            <a:ext cx="562356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Polar Map + Geofence: 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map with stations, field parties, crevasse / ASPA danger polygons. Breach = instant alert.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Depletion Forecaster: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Left = Stock / Daily Use. Auto Draft Resupply Manifest before 8-month winter cut-off.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Autonomous Safety Engine: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rules - Dead-Man (45-min), ETA slip, maintenance, geofence, depletion. Acts without human click.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82880" y="3566160"/>
            <a:ext cx="5715000" cy="475488"/>
          </a:xfrm>
          <a:prstGeom prst="roundRect">
            <a:avLst>
              <a:gd name="adj" fmla="val 15385"/>
            </a:avLst>
          </a:prstGeom>
          <a:solidFill>
            <a:srgbClr val="5CA69D"/>
          </a:solidFill>
          <a:ln w="12700">
            <a:solidFill>
              <a:srgbClr val="5CA69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5661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82880" y="4087368"/>
            <a:ext cx="5715000" cy="2057400"/>
          </a:xfrm>
          <a:prstGeom prst="roundRect">
            <a:avLst>
              <a:gd name="adj" fmla="val 2222"/>
            </a:avLst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2608" y="41605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Remote Monitoring: 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NCPOR Goa / MoES Delhi remotely track cargo (Goa → Cape Town → Ship → Ice Shelf → Station), stock &amp; people.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Tracking: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isolation readiness, reduces delays, lost cargo &amp; stock-out aborts of year-long missions.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Dashboard: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dark dashboard with KPIs, Socket.IO live alerts &amp; downloadable readiness reports.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80760" y="3566160"/>
            <a:ext cx="5897880" cy="475488"/>
          </a:xfrm>
          <a:prstGeom prst="roundRect">
            <a:avLst>
              <a:gd name="adj" fmla="val 15385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566160"/>
            <a:ext cx="5715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expedition activities &amp; automation -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80760" y="4087368"/>
            <a:ext cx="5897880" cy="2057400"/>
          </a:xfrm>
          <a:prstGeom prst="rect">
            <a:avLst/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44348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44775"/>
            </a:solidFill>
            <a:prstDash val="solid"/>
          </a:ln>
        </p:spPr>
      </p:sp>
      <p:pic>
        <p:nvPicPr>
          <p:cNvPr id="26" name="Image 1" descr="assets/ic_car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446227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172200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6172200" y="4901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44-IAE, Maitri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men, quotas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713232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315200" y="44348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44775"/>
            </a:solidFill>
            <a:prstDash val="solid"/>
          </a:ln>
        </p:spPr>
      </p:sp>
      <p:pic>
        <p:nvPicPr>
          <p:cNvPr id="31" name="Image 2" descr="assets/ic_car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462272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315200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7315200" y="4901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CRG-012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InTransit→Station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827532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458200" y="44348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44775"/>
            </a:solidFill>
            <a:prstDash val="solid"/>
          </a:ln>
        </p:spPr>
      </p:sp>
      <p:pic>
        <p:nvPicPr>
          <p:cNvPr id="36" name="Image 3" descr="assets/ic_fu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4462272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458200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8458200" y="4901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Fuel/Food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Days-Left calc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941832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9601200" y="44348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44775"/>
            </a:solidFill>
            <a:prstDash val="solid"/>
          </a:ln>
        </p:spPr>
      </p:sp>
      <p:pic>
        <p:nvPicPr>
          <p:cNvPr id="41" name="Image 4" descr="assets/ic_t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2" y="4462272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01200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9601200" y="4901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+ GPS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Dead-Man 45m</a:t>
            </a:r>
            <a:endParaRPr lang="en-US" sz="600" dirty="0"/>
          </a:p>
        </p:txBody>
      </p:sp>
      <p:sp>
        <p:nvSpPr>
          <p:cNvPr id="44" name="Text 37"/>
          <p:cNvSpPr/>
          <p:nvPr/>
        </p:nvSpPr>
        <p:spPr>
          <a:xfrm>
            <a:off x="1056132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10744200" y="44348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44775"/>
            </a:solidFill>
            <a:prstDash val="solid"/>
          </a:ln>
        </p:spPr>
      </p:sp>
      <p:pic>
        <p:nvPicPr>
          <p:cNvPr id="46" name="Image 5" descr="assets/ic_s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4462272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744200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10744200" y="4901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Roll-call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MEDEVAC</a:t>
            </a:r>
            <a:endParaRPr lang="en-US" sz="600" dirty="0"/>
          </a:p>
        </p:txBody>
      </p:sp>
      <p:pic>
        <p:nvPicPr>
          <p:cNvPr id="49" name="Image 6" descr="assets/dash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5257800"/>
            <a:ext cx="5486400" cy="77724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172200" y="53492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→ Cargo → Receipt → Consumption → Forecast → Resupply / Emergency</a:t>
            </a:r>
            <a:endParaRPr lang="en-US" sz="700" dirty="0"/>
          </a:p>
        </p:txBody>
      </p:sp>
      <p:sp>
        <p:nvSpPr>
          <p:cNvPr id="51" name="Shap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2447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731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822960"/>
            <a:ext cx="68580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2F3B4B"/>
          </a:solidFill>
          <a:ln w="12700">
            <a:solidFill>
              <a:srgbClr val="2F3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280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 ▾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4048" y="1627632"/>
            <a:ext cx="15179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27632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Expedition 44-IAE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84048" y="1956816"/>
            <a:ext cx="15179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1956816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Maitri/Bharati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84048" y="2286000"/>
            <a:ext cx="15179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28600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Team-size + quotas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84048" y="2615184"/>
            <a:ext cx="15179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615184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manifest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84048" y="2944368"/>
            <a:ext cx="15179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94436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consumption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9202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240280" y="1645920"/>
            <a:ext cx="1554480" cy="32004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028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Expedition Created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977640" y="1645920"/>
            <a:ext cx="1554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7764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Activities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40280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40280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2807208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07208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3374136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74136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3941064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41064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4507992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07992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Geo-map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5074920" y="2240280"/>
            <a:ext cx="530352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74920" y="22402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2240280" y="2834640"/>
            <a:ext cx="3291840" cy="274320"/>
          </a:xfrm>
          <a:prstGeom prst="rect">
            <a:avLst/>
          </a:prstGeom>
          <a:solidFill>
            <a:srgbClr val="EDEDED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4028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Select Activity  →  Upload / Check-in / GPS telemetry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3017520" y="3291840"/>
            <a:ext cx="17373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17520" y="3291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Automation Engine Used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2103120" y="3657600"/>
            <a:ext cx="594360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03120" y="36576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Dead-Man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45-min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2743200" y="3657600"/>
            <a:ext cx="594360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43200" y="36576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Geofence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ASPA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383280" y="3657600"/>
            <a:ext cx="594360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83280" y="36576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Depletion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Stock/Rate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4023360" y="3657600"/>
            <a:ext cx="594360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23360" y="36576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ETA Slip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Weather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4663440" y="3657600"/>
            <a:ext cx="594360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663440" y="36576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Maint.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</a:rPr>
              <a:t>Hours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2103120" y="4343400"/>
            <a:ext cx="3291840" cy="502920"/>
          </a:xfrm>
          <a:prstGeom prst="rect">
            <a:avLst/>
          </a:prstGeom>
          <a:solidFill>
            <a:srgbClr val="EAF1FB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4370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 Days Remaining, Risk (SAFE/RISK/CRITICAL), Readiness %, SOS triage + live alert</a:t>
            </a:r>
            <a:endParaRPr lang="en-US" sz="700" dirty="0"/>
          </a:p>
        </p:txBody>
      </p:sp>
      <p:pic>
        <p:nvPicPr>
          <p:cNvPr id="53" name="Image 1" descr="assets/polar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37760"/>
            <a:ext cx="3383280" cy="1417320"/>
          </a:xfrm>
          <a:prstGeom prst="rect">
            <a:avLst/>
          </a:prstGeom>
        </p:spPr>
      </p:pic>
      <p:pic>
        <p:nvPicPr>
          <p:cNvPr id="54" name="Image 2" descr="asset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937760"/>
            <a:ext cx="3246120" cy="1417320"/>
          </a:xfrm>
          <a:prstGeom prst="rect">
            <a:avLst/>
          </a:prstGeom>
        </p:spPr>
      </p:pic>
      <p:sp>
        <p:nvSpPr>
          <p:cNvPr id="55" name="Shape 50"/>
          <p:cNvSpPr/>
          <p:nvPr/>
        </p:nvSpPr>
        <p:spPr>
          <a:xfrm>
            <a:off x="365760" y="5623560"/>
            <a:ext cx="6583680" cy="594360"/>
          </a:xfrm>
          <a:prstGeom prst="rect">
            <a:avLst/>
          </a:prstGeom>
          <a:solidFill>
            <a:srgbClr val="2F3B4B"/>
          </a:solidFill>
          <a:ln w="12700">
            <a:solidFill>
              <a:srgbClr val="2F3B4B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65760" y="56235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harness: Simulate Crevasse Stray  |  Simulate Dead-Man Timeout  |  Drop Fuel Below 20%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7315200" y="822960"/>
            <a:ext cx="4617720" cy="2103120"/>
          </a:xfrm>
          <a:prstGeom prst="rect">
            <a:avLst/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8229600" y="914400"/>
            <a:ext cx="2788920" cy="502920"/>
          </a:xfrm>
          <a:prstGeom prst="roundRect">
            <a:avLst>
              <a:gd name="adj" fmla="val 36364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229600" y="914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60" name="Text 55"/>
          <p:cNvSpPr/>
          <p:nvPr/>
        </p:nvSpPr>
        <p:spPr>
          <a:xfrm>
            <a:off x="7406640" y="14630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Node + Express  •  MongoDB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 •  Leaflet Polar Map  •  JWT/RBAC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Tactical Dark  •  PWA + IndexedDB</a:t>
            </a:r>
            <a:endParaRPr lang="en-US" sz="850" dirty="0"/>
          </a:p>
        </p:txBody>
      </p:sp>
      <p:pic>
        <p:nvPicPr>
          <p:cNvPr id="61" name="Image 3" descr="assets/ic_car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331720"/>
            <a:ext cx="411480" cy="411480"/>
          </a:xfrm>
          <a:prstGeom prst="rect">
            <a:avLst/>
          </a:prstGeom>
        </p:spPr>
      </p:pic>
      <p:pic>
        <p:nvPicPr>
          <p:cNvPr id="62" name="Image 4" descr="assets/ic_fu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331720"/>
            <a:ext cx="411480" cy="411480"/>
          </a:xfrm>
          <a:prstGeom prst="rect">
            <a:avLst/>
          </a:prstGeom>
        </p:spPr>
      </p:pic>
      <p:pic>
        <p:nvPicPr>
          <p:cNvPr id="63" name="Image 5" descr="assets/ic_t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331720"/>
            <a:ext cx="411480" cy="411480"/>
          </a:xfrm>
          <a:prstGeom prst="rect">
            <a:avLst/>
          </a:prstGeom>
        </p:spPr>
      </p:pic>
      <p:pic>
        <p:nvPicPr>
          <p:cNvPr id="64" name="Image 6" descr="assets/ic_ge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331720"/>
            <a:ext cx="411480" cy="411480"/>
          </a:xfrm>
          <a:prstGeom prst="rect">
            <a:avLst/>
          </a:prstGeom>
        </p:spPr>
      </p:pic>
      <p:pic>
        <p:nvPicPr>
          <p:cNvPr id="65" name="Image 7" descr="assets/ic_so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0" y="2331720"/>
            <a:ext cx="411480" cy="411480"/>
          </a:xfrm>
          <a:prstGeom prst="rect">
            <a:avLst/>
          </a:prstGeom>
        </p:spPr>
      </p:pic>
      <p:sp>
        <p:nvSpPr>
          <p:cNvPr id="66" name="Shape 56"/>
          <p:cNvSpPr/>
          <p:nvPr/>
        </p:nvSpPr>
        <p:spPr>
          <a:xfrm>
            <a:off x="7315200" y="3063240"/>
            <a:ext cx="4617720" cy="3337560"/>
          </a:xfrm>
          <a:prstGeom prst="rect">
            <a:avLst/>
          </a:prstGeom>
          <a:solidFill>
            <a:srgbClr val="EAF1F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7452360" y="312724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</a:t>
            </a:r>
            <a:endParaRPr lang="en-US" sz="1300" dirty="0"/>
          </a:p>
        </p:txBody>
      </p:sp>
      <p:sp>
        <p:nvSpPr>
          <p:cNvPr id="68" name="Text 58"/>
          <p:cNvSpPr/>
          <p:nvPr/>
        </p:nvSpPr>
        <p:spPr>
          <a:xfrm>
            <a:off x="7452360" y="3520440"/>
            <a:ext cx="434340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Dead-Man Switch: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ping in 45 min → CRITICAL + last GPS + refuge.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Geofence: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Point-in-polygon vs crevasse / ASPA → breach alert.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Depletion Forecaster: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/ daily-rate vs next resupply → SAFE/RISK.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ETA Slip: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Weather-window miss → P1 airlift for fuel/medicine.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Maint.: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≥ max-25 → service + spares check.</a:t>
            </a:r>
            <a:endParaRPr lang="en-US" sz="800" dirty="0"/>
          </a:p>
        </p:txBody>
      </p:sp>
      <p:sp>
        <p:nvSpPr>
          <p:cNvPr id="69" name="Shape 5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2447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45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400" dirty="0"/>
          </a:p>
        </p:txBody>
      </p:sp>
      <p:pic>
        <p:nvPicPr>
          <p:cNvPr id="5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44775"/>
          </a:solidFill>
          <a:ln w="12700">
            <a:solidFill>
              <a:srgbClr val="2447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868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91640"/>
            <a:ext cx="329184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Technological Feasibility: Proven MERN + Socket.IO + Leaflet. No special hardware; deterministic rules work even without AI.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Integration: REST APIs integrate with NCPOR logs, port manifests, vessel AIS, IMD weather.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Scalability: Cloud MongoDB + stateless Express scale to multi-expedition, multi-station. Offline-first for winter.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51960" y="8686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44775"/>
          </a:solidFill>
          <a:ln w="12700">
            <a:solidFill>
              <a:srgbClr val="2447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868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155448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1691640"/>
            <a:ext cx="329184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Connectivity: 128-512 kbps intermittent satellite, whiteout blackouts delay sync.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Accuracy: Wrong consumption entry / GPS drift in -60°C causes false alerts.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&amp; Safety: Personnel health + location needs strict RBAC + audit; false negative can be fatal.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046720" y="8686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44775"/>
          </a:solidFill>
          <a:ln w="12700">
            <a:solidFill>
              <a:srgbClr val="2447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880" y="868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Challenges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155448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0" y="1691640"/>
            <a:ext cx="329184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Offline-First: IndexedDB queue + delta-sync (updatedAt), lean JSON, sync status.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Assurance: Validation on every write, transaction log, timeline never overwritten.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+ Simulation: Role switcher + 3 demo buttons for judges (crevasse / dead-man / fuel).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28600" y="5029200"/>
            <a:ext cx="9281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50474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Sources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5349240"/>
            <a:ext cx="909828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Subscription Fees: Annual SaaS per station / expedition for NCPOR / MoES.   • Customization: One-time port / vessel / ASPA-mapping + training fee.   • Analytics as a Service: Winter-survival analytics &amp; audit reports as premium add-on.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692640" y="5029200"/>
            <a:ext cx="2240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38360" y="5120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738360" y="5760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E6EB5"/>
                </a:solidFill>
              </a:rPr>
              <a:t>Click Here  ☞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2447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45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5486400" cy="5532120"/>
          </a:xfrm>
          <a:prstGeom prst="roundRect">
            <a:avLst>
              <a:gd name="adj" fmla="val 2500"/>
            </a:avLst>
          </a:prstGeom>
          <a:solidFill>
            <a:srgbClr val="EAF1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60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POTENTIAL IMPACTS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4775"/>
                </a:solidFill>
              </a:rPr>
              <a:t>Target Audience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NCPOR &amp; MoES: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governance, better monitoring, lower cost, data-driven winter decisions.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Expedition Leaders / Logistics: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efficiency, coordination, fewer delays &amp; compliance costs.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 Scientists: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safety, one-click SOS, MEDEVAC checklist, fewer disruptions.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Environmental Agencies: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ASPA compliance tracking, lower emissions via planned logistics.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63640" y="868680"/>
            <a:ext cx="5486400" cy="5532120"/>
          </a:xfrm>
          <a:prstGeom prst="roundRect">
            <a:avLst>
              <a:gd name="adj" fmla="val 2500"/>
            </a:avLst>
          </a:prstGeom>
          <a:solidFill>
            <a:srgbClr val="EAF1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960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244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pic>
        <p:nvPicPr>
          <p:cNvPr id="12" name="Image 1" descr="asset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120640"/>
            <a:ext cx="5120640" cy="1097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63640" y="1417320"/>
            <a:ext cx="5486400" cy="38404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14173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0" y="18562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 &amp; accountability in national missions.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Life-safety for 25 winter / 65 summer crew (Illustrative, NCPOR).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63640" y="2788920"/>
            <a:ext cx="5486400" cy="38404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63640" y="27889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32278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Saves emergency airlifts, prevents cargo loss, optimizes fuel/food use.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Protects year-long research investment.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4160520"/>
            <a:ext cx="5486400" cy="38404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63640" y="41605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00800" y="45994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Fewer rescue trips → lower footprint.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Paperless manifests; ASPA geofence protects ecology.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2447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400" dirty="0"/>
          </a:p>
        </p:txBody>
      </p:sp>
      <p:pic>
        <p:nvPicPr>
          <p:cNvPr id="5" name="Image 0" descr="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"/>
            <a:ext cx="24688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11247120" cy="5532120"/>
          </a:xfrm>
          <a:prstGeom prst="roundRect">
            <a:avLst>
              <a:gd name="adj" fmla="val 413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051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53312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+ operational data only (no real personal data): Stations Maitri / Bharati / Himadri / Field Camps; Expeditions ANT-2027 (Active) / ANT-2028 (Planning); Containers C-001 Food / C-002 Fuel / C-003 Medicine; Assets - PistenBully, Generator, Drone; Personnel badgeId + GPS tracks; Fuel/food consumption logs.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5840" y="2103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42316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NCPOR / MoES - Indian Scientific Expedition to Antarctica (ISEA) advisories &amp; station handbooks: Maitri (1989, Schirmacher Oasis), Bharati (2012, Larsemann Hills, ~3000 km east of Maitri); ship access Nov-Mar only; winter isolation 8-9 months.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Antarctic Treaty - ASPA / ASMA protected-area guidelines (basis for geofencing).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Offline-first + delta-sync (updatedAt) patterns for INMARSAT / Iridium low-bandwidth links (128-512 kbps, Illustrative estimate).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2062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Excel + Paper + Satellite Email (status-quo): scattered rosters/manifests, no live tracking, no depletion forecast - risky in winter cut-off.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Generic ERP (SAP / Oracle-type): costly, not built for polar nodes (Goa → Cape Town → Ship → Ice Shelf → Station), no dead-man switch, no ASPA geofence, no life-support forecasting - hence POLARIS.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POLARIS - SIH 2026 - PS 26062</dc:title>
  <dc:subject>PptxGenJS Presentation</dc:subject>
  <dc:creator>Team POLARIS</dc:creator>
  <cp:lastModifiedBy>Team POLARIS</cp:lastModifiedBy>
  <cp:revision>1</cp:revision>
  <dcterms:created xsi:type="dcterms:W3CDTF">2026-09-18T17:24:25Z</dcterms:created>
  <dcterms:modified xsi:type="dcterms:W3CDTF">2026-09-18T17:24:25Z</dcterms:modified>
</cp:coreProperties>
</file>